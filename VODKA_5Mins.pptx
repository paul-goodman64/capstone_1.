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8" r:id="rId3"/>
    <p:sldId id="266" r:id="rId4"/>
    <p:sldId id="257" r:id="rId5"/>
    <p:sldId id="260" r:id="rId6"/>
    <p:sldId id="264" r:id="rId7"/>
    <p:sldId id="262" r:id="rId8"/>
    <p:sldId id="267"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78" d="100"/>
          <a:sy n="78" d="100"/>
        </p:scale>
        <p:origin x="878"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7BB043-6621-B906-26CE-2134589FDA0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78096126-B9CC-B9E8-E7CF-BCAB4E47737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758F693B-BDE6-A0E6-D299-318DB73B79AC}"/>
              </a:ext>
            </a:extLst>
          </p:cNvPr>
          <p:cNvSpPr>
            <a:spLocks noGrp="1"/>
          </p:cNvSpPr>
          <p:nvPr>
            <p:ph type="dt" sz="half" idx="10"/>
          </p:nvPr>
        </p:nvSpPr>
        <p:spPr/>
        <p:txBody>
          <a:bodyPr/>
          <a:lstStyle/>
          <a:p>
            <a:fld id="{A4DC5D75-B1B8-4B27-8F29-821D1F6B4349}" type="datetimeFigureOut">
              <a:rPr lang="en-US" smtClean="0"/>
              <a:t>5/1/2026</a:t>
            </a:fld>
            <a:endParaRPr lang="en-US"/>
          </a:p>
        </p:txBody>
      </p:sp>
      <p:sp>
        <p:nvSpPr>
          <p:cNvPr id="5" name="Footer Placeholder 4">
            <a:extLst>
              <a:ext uri="{FF2B5EF4-FFF2-40B4-BE49-F238E27FC236}">
                <a16:creationId xmlns:a16="http://schemas.microsoft.com/office/drawing/2014/main" id="{B2538524-35E6-1CFB-81F9-D76D980F29F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2DAF594-D855-CB40-E87F-306A5EA0A051}"/>
              </a:ext>
            </a:extLst>
          </p:cNvPr>
          <p:cNvSpPr>
            <a:spLocks noGrp="1"/>
          </p:cNvSpPr>
          <p:nvPr>
            <p:ph type="sldNum" sz="quarter" idx="12"/>
          </p:nvPr>
        </p:nvSpPr>
        <p:spPr/>
        <p:txBody>
          <a:bodyPr/>
          <a:lstStyle/>
          <a:p>
            <a:fld id="{D0699BDB-5ADD-4A57-994C-3278565FC7A3}" type="slidenum">
              <a:rPr lang="en-US" smtClean="0"/>
              <a:t>‹#›</a:t>
            </a:fld>
            <a:endParaRPr lang="en-US"/>
          </a:p>
        </p:txBody>
      </p:sp>
    </p:spTree>
    <p:extLst>
      <p:ext uri="{BB962C8B-B14F-4D97-AF65-F5344CB8AC3E}">
        <p14:creationId xmlns:p14="http://schemas.microsoft.com/office/powerpoint/2010/main" val="118688166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DF3A64-A225-6F01-8B2C-17C082B265A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88FBAEA-61C9-BC86-49FE-D6601986C83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5825EEB-DD31-070E-FFFE-80CDD58DD17E}"/>
              </a:ext>
            </a:extLst>
          </p:cNvPr>
          <p:cNvSpPr>
            <a:spLocks noGrp="1"/>
          </p:cNvSpPr>
          <p:nvPr>
            <p:ph type="dt" sz="half" idx="10"/>
          </p:nvPr>
        </p:nvSpPr>
        <p:spPr/>
        <p:txBody>
          <a:bodyPr/>
          <a:lstStyle/>
          <a:p>
            <a:fld id="{A4DC5D75-B1B8-4B27-8F29-821D1F6B4349}" type="datetimeFigureOut">
              <a:rPr lang="en-US" smtClean="0"/>
              <a:t>5/1/2026</a:t>
            </a:fld>
            <a:endParaRPr lang="en-US"/>
          </a:p>
        </p:txBody>
      </p:sp>
      <p:sp>
        <p:nvSpPr>
          <p:cNvPr id="5" name="Footer Placeholder 4">
            <a:extLst>
              <a:ext uri="{FF2B5EF4-FFF2-40B4-BE49-F238E27FC236}">
                <a16:creationId xmlns:a16="http://schemas.microsoft.com/office/drawing/2014/main" id="{23FFAEE5-DFF8-E660-EAE0-A483452833C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4C6A114-3E8F-F18B-469C-BF0CF194CA90}"/>
              </a:ext>
            </a:extLst>
          </p:cNvPr>
          <p:cNvSpPr>
            <a:spLocks noGrp="1"/>
          </p:cNvSpPr>
          <p:nvPr>
            <p:ph type="sldNum" sz="quarter" idx="12"/>
          </p:nvPr>
        </p:nvSpPr>
        <p:spPr/>
        <p:txBody>
          <a:bodyPr/>
          <a:lstStyle/>
          <a:p>
            <a:fld id="{D0699BDB-5ADD-4A57-994C-3278565FC7A3}" type="slidenum">
              <a:rPr lang="en-US" smtClean="0"/>
              <a:t>‹#›</a:t>
            </a:fld>
            <a:endParaRPr lang="en-US"/>
          </a:p>
        </p:txBody>
      </p:sp>
    </p:spTree>
    <p:extLst>
      <p:ext uri="{BB962C8B-B14F-4D97-AF65-F5344CB8AC3E}">
        <p14:creationId xmlns:p14="http://schemas.microsoft.com/office/powerpoint/2010/main" val="114261148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7DD13B-C20E-7058-C7D7-C7A29CAC15A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2926E525-4F45-D022-18A1-3F42FB74B92D}"/>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D7F8353-3E1C-90E5-6C50-AA93E2058263}"/>
              </a:ext>
            </a:extLst>
          </p:cNvPr>
          <p:cNvSpPr>
            <a:spLocks noGrp="1"/>
          </p:cNvSpPr>
          <p:nvPr>
            <p:ph type="dt" sz="half" idx="10"/>
          </p:nvPr>
        </p:nvSpPr>
        <p:spPr/>
        <p:txBody>
          <a:bodyPr/>
          <a:lstStyle/>
          <a:p>
            <a:fld id="{A4DC5D75-B1B8-4B27-8F29-821D1F6B4349}" type="datetimeFigureOut">
              <a:rPr lang="en-US" smtClean="0"/>
              <a:t>5/1/2026</a:t>
            </a:fld>
            <a:endParaRPr lang="en-US"/>
          </a:p>
        </p:txBody>
      </p:sp>
      <p:sp>
        <p:nvSpPr>
          <p:cNvPr id="5" name="Footer Placeholder 4">
            <a:extLst>
              <a:ext uri="{FF2B5EF4-FFF2-40B4-BE49-F238E27FC236}">
                <a16:creationId xmlns:a16="http://schemas.microsoft.com/office/drawing/2014/main" id="{5F86FEBD-DE56-5CBA-38E9-7506D3CAAB8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4EF8310-47D9-4F69-F117-8B8806ED174B}"/>
              </a:ext>
            </a:extLst>
          </p:cNvPr>
          <p:cNvSpPr>
            <a:spLocks noGrp="1"/>
          </p:cNvSpPr>
          <p:nvPr>
            <p:ph type="sldNum" sz="quarter" idx="12"/>
          </p:nvPr>
        </p:nvSpPr>
        <p:spPr/>
        <p:txBody>
          <a:bodyPr/>
          <a:lstStyle/>
          <a:p>
            <a:fld id="{D0699BDB-5ADD-4A57-994C-3278565FC7A3}" type="slidenum">
              <a:rPr lang="en-US" smtClean="0"/>
              <a:t>‹#›</a:t>
            </a:fld>
            <a:endParaRPr lang="en-US"/>
          </a:p>
        </p:txBody>
      </p:sp>
    </p:spTree>
    <p:extLst>
      <p:ext uri="{BB962C8B-B14F-4D97-AF65-F5344CB8AC3E}">
        <p14:creationId xmlns:p14="http://schemas.microsoft.com/office/powerpoint/2010/main" val="55608774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A5B78E-29A6-4645-2530-85003754028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51EDA0A-CEAC-2991-2045-4258388AFC9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B405B2E3-DC1B-AD4D-B67C-5E8B69760A8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DD31A27B-A22C-285F-7B5F-BFDE1057BA9F}"/>
              </a:ext>
            </a:extLst>
          </p:cNvPr>
          <p:cNvSpPr>
            <a:spLocks noGrp="1"/>
          </p:cNvSpPr>
          <p:nvPr>
            <p:ph type="dt" sz="half" idx="10"/>
          </p:nvPr>
        </p:nvSpPr>
        <p:spPr/>
        <p:txBody>
          <a:bodyPr/>
          <a:lstStyle/>
          <a:p>
            <a:fld id="{A4DC5D75-B1B8-4B27-8F29-821D1F6B4349}" type="datetimeFigureOut">
              <a:rPr lang="en-US" smtClean="0"/>
              <a:t>5/1/2026</a:t>
            </a:fld>
            <a:endParaRPr lang="en-US"/>
          </a:p>
        </p:txBody>
      </p:sp>
      <p:sp>
        <p:nvSpPr>
          <p:cNvPr id="6" name="Footer Placeholder 5">
            <a:extLst>
              <a:ext uri="{FF2B5EF4-FFF2-40B4-BE49-F238E27FC236}">
                <a16:creationId xmlns:a16="http://schemas.microsoft.com/office/drawing/2014/main" id="{386DB669-DE1A-7865-D829-137E4FC85A2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DDF22BF-2A37-3320-74B4-585938BF471B}"/>
              </a:ext>
            </a:extLst>
          </p:cNvPr>
          <p:cNvSpPr>
            <a:spLocks noGrp="1"/>
          </p:cNvSpPr>
          <p:nvPr>
            <p:ph type="sldNum" sz="quarter" idx="12"/>
          </p:nvPr>
        </p:nvSpPr>
        <p:spPr/>
        <p:txBody>
          <a:bodyPr/>
          <a:lstStyle/>
          <a:p>
            <a:fld id="{D0699BDB-5ADD-4A57-994C-3278565FC7A3}" type="slidenum">
              <a:rPr lang="en-US" smtClean="0"/>
              <a:t>‹#›</a:t>
            </a:fld>
            <a:endParaRPr lang="en-US"/>
          </a:p>
        </p:txBody>
      </p:sp>
    </p:spTree>
    <p:extLst>
      <p:ext uri="{BB962C8B-B14F-4D97-AF65-F5344CB8AC3E}">
        <p14:creationId xmlns:p14="http://schemas.microsoft.com/office/powerpoint/2010/main" val="189840014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E11C99-2452-B131-0C62-840252E08E60}"/>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46D5AACD-8C13-D829-CCB4-03DF7AA4017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36A4FF3-7F9C-F4B8-3936-0679C4B2BF20}"/>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A9ED9EB8-5C73-28D4-702D-FA3BBCC0B59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62FBEEF-8971-B0A7-51C3-14D205923A53}"/>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CEAAC68E-6ECD-43F6-623F-38CDCBBACF81}"/>
              </a:ext>
            </a:extLst>
          </p:cNvPr>
          <p:cNvSpPr>
            <a:spLocks noGrp="1"/>
          </p:cNvSpPr>
          <p:nvPr>
            <p:ph type="dt" sz="half" idx="10"/>
          </p:nvPr>
        </p:nvSpPr>
        <p:spPr/>
        <p:txBody>
          <a:bodyPr/>
          <a:lstStyle/>
          <a:p>
            <a:fld id="{A4DC5D75-B1B8-4B27-8F29-821D1F6B4349}" type="datetimeFigureOut">
              <a:rPr lang="en-US" smtClean="0"/>
              <a:t>5/1/2026</a:t>
            </a:fld>
            <a:endParaRPr lang="en-US"/>
          </a:p>
        </p:txBody>
      </p:sp>
      <p:sp>
        <p:nvSpPr>
          <p:cNvPr id="8" name="Footer Placeholder 7">
            <a:extLst>
              <a:ext uri="{FF2B5EF4-FFF2-40B4-BE49-F238E27FC236}">
                <a16:creationId xmlns:a16="http://schemas.microsoft.com/office/drawing/2014/main" id="{3663DB25-76FD-221A-B6B4-A4FBAA441BBA}"/>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8FCB11CD-BEF7-E70A-AA4C-01A6A6D7ABFA}"/>
              </a:ext>
            </a:extLst>
          </p:cNvPr>
          <p:cNvSpPr>
            <a:spLocks noGrp="1"/>
          </p:cNvSpPr>
          <p:nvPr>
            <p:ph type="sldNum" sz="quarter" idx="12"/>
          </p:nvPr>
        </p:nvSpPr>
        <p:spPr/>
        <p:txBody>
          <a:bodyPr/>
          <a:lstStyle/>
          <a:p>
            <a:fld id="{D0699BDB-5ADD-4A57-994C-3278565FC7A3}" type="slidenum">
              <a:rPr lang="en-US" smtClean="0"/>
              <a:t>‹#›</a:t>
            </a:fld>
            <a:endParaRPr lang="en-US"/>
          </a:p>
        </p:txBody>
      </p:sp>
    </p:spTree>
    <p:extLst>
      <p:ext uri="{BB962C8B-B14F-4D97-AF65-F5344CB8AC3E}">
        <p14:creationId xmlns:p14="http://schemas.microsoft.com/office/powerpoint/2010/main" val="168135054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804CC9-0D90-CC08-B8B5-60E164179788}"/>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2B8D984B-FFE1-2DDA-1A67-FCD269EE593F}"/>
              </a:ext>
            </a:extLst>
          </p:cNvPr>
          <p:cNvSpPr>
            <a:spLocks noGrp="1"/>
          </p:cNvSpPr>
          <p:nvPr>
            <p:ph type="dt" sz="half" idx="10"/>
          </p:nvPr>
        </p:nvSpPr>
        <p:spPr/>
        <p:txBody>
          <a:bodyPr/>
          <a:lstStyle/>
          <a:p>
            <a:fld id="{A4DC5D75-B1B8-4B27-8F29-821D1F6B4349}" type="datetimeFigureOut">
              <a:rPr lang="en-US" smtClean="0"/>
              <a:t>5/1/2026</a:t>
            </a:fld>
            <a:endParaRPr lang="en-US"/>
          </a:p>
        </p:txBody>
      </p:sp>
      <p:sp>
        <p:nvSpPr>
          <p:cNvPr id="4" name="Footer Placeholder 3">
            <a:extLst>
              <a:ext uri="{FF2B5EF4-FFF2-40B4-BE49-F238E27FC236}">
                <a16:creationId xmlns:a16="http://schemas.microsoft.com/office/drawing/2014/main" id="{10575DF9-81D8-139C-920F-BE56C7944435}"/>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F01E110F-E128-9A85-D161-B27F07CECC85}"/>
              </a:ext>
            </a:extLst>
          </p:cNvPr>
          <p:cNvSpPr>
            <a:spLocks noGrp="1"/>
          </p:cNvSpPr>
          <p:nvPr>
            <p:ph type="sldNum" sz="quarter" idx="12"/>
          </p:nvPr>
        </p:nvSpPr>
        <p:spPr/>
        <p:txBody>
          <a:bodyPr/>
          <a:lstStyle/>
          <a:p>
            <a:fld id="{D0699BDB-5ADD-4A57-994C-3278565FC7A3}" type="slidenum">
              <a:rPr lang="en-US" smtClean="0"/>
              <a:t>‹#›</a:t>
            </a:fld>
            <a:endParaRPr lang="en-US"/>
          </a:p>
        </p:txBody>
      </p:sp>
    </p:spTree>
    <p:extLst>
      <p:ext uri="{BB962C8B-B14F-4D97-AF65-F5344CB8AC3E}">
        <p14:creationId xmlns:p14="http://schemas.microsoft.com/office/powerpoint/2010/main" val="44528686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5F76C88-FCFB-CE83-C504-E0A51E7A2D0B}"/>
              </a:ext>
            </a:extLst>
          </p:cNvPr>
          <p:cNvSpPr>
            <a:spLocks noGrp="1"/>
          </p:cNvSpPr>
          <p:nvPr>
            <p:ph type="dt" sz="half" idx="10"/>
          </p:nvPr>
        </p:nvSpPr>
        <p:spPr/>
        <p:txBody>
          <a:bodyPr/>
          <a:lstStyle/>
          <a:p>
            <a:fld id="{A4DC5D75-B1B8-4B27-8F29-821D1F6B4349}" type="datetimeFigureOut">
              <a:rPr lang="en-US" smtClean="0"/>
              <a:t>5/1/2026</a:t>
            </a:fld>
            <a:endParaRPr lang="en-US"/>
          </a:p>
        </p:txBody>
      </p:sp>
      <p:sp>
        <p:nvSpPr>
          <p:cNvPr id="3" name="Footer Placeholder 2">
            <a:extLst>
              <a:ext uri="{FF2B5EF4-FFF2-40B4-BE49-F238E27FC236}">
                <a16:creationId xmlns:a16="http://schemas.microsoft.com/office/drawing/2014/main" id="{2E3ADED6-A457-78E1-964F-7AD0A9B3FD28}"/>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7E4E79DF-DE55-70A6-DBE1-853DF33D8FC7}"/>
              </a:ext>
            </a:extLst>
          </p:cNvPr>
          <p:cNvSpPr>
            <a:spLocks noGrp="1"/>
          </p:cNvSpPr>
          <p:nvPr>
            <p:ph type="sldNum" sz="quarter" idx="12"/>
          </p:nvPr>
        </p:nvSpPr>
        <p:spPr/>
        <p:txBody>
          <a:bodyPr/>
          <a:lstStyle/>
          <a:p>
            <a:fld id="{D0699BDB-5ADD-4A57-994C-3278565FC7A3}" type="slidenum">
              <a:rPr lang="en-US" smtClean="0"/>
              <a:t>‹#›</a:t>
            </a:fld>
            <a:endParaRPr lang="en-US"/>
          </a:p>
        </p:txBody>
      </p:sp>
    </p:spTree>
    <p:extLst>
      <p:ext uri="{BB962C8B-B14F-4D97-AF65-F5344CB8AC3E}">
        <p14:creationId xmlns:p14="http://schemas.microsoft.com/office/powerpoint/2010/main" val="10031080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CED63E-9CA4-B6CE-12CB-1F3FBBFD154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8F0723B7-B8E1-868B-8A28-417A0B9C4F4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DE3A612C-ED53-0F5E-E690-CBD93B94C8A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4B1CAF4-3E2D-DC89-56F0-B157BD257DE1}"/>
              </a:ext>
            </a:extLst>
          </p:cNvPr>
          <p:cNvSpPr>
            <a:spLocks noGrp="1"/>
          </p:cNvSpPr>
          <p:nvPr>
            <p:ph type="dt" sz="half" idx="10"/>
          </p:nvPr>
        </p:nvSpPr>
        <p:spPr/>
        <p:txBody>
          <a:bodyPr/>
          <a:lstStyle/>
          <a:p>
            <a:fld id="{A4DC5D75-B1B8-4B27-8F29-821D1F6B4349}" type="datetimeFigureOut">
              <a:rPr lang="en-US" smtClean="0"/>
              <a:t>5/1/2026</a:t>
            </a:fld>
            <a:endParaRPr lang="en-US"/>
          </a:p>
        </p:txBody>
      </p:sp>
      <p:sp>
        <p:nvSpPr>
          <p:cNvPr id="6" name="Footer Placeholder 5">
            <a:extLst>
              <a:ext uri="{FF2B5EF4-FFF2-40B4-BE49-F238E27FC236}">
                <a16:creationId xmlns:a16="http://schemas.microsoft.com/office/drawing/2014/main" id="{B83A4784-C1F0-2E59-A7D0-8A4ED25C1CB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BD52B84-A7B1-6184-C2D9-897ABE18C1D6}"/>
              </a:ext>
            </a:extLst>
          </p:cNvPr>
          <p:cNvSpPr>
            <a:spLocks noGrp="1"/>
          </p:cNvSpPr>
          <p:nvPr>
            <p:ph type="sldNum" sz="quarter" idx="12"/>
          </p:nvPr>
        </p:nvSpPr>
        <p:spPr/>
        <p:txBody>
          <a:bodyPr/>
          <a:lstStyle/>
          <a:p>
            <a:fld id="{D0699BDB-5ADD-4A57-994C-3278565FC7A3}" type="slidenum">
              <a:rPr lang="en-US" smtClean="0"/>
              <a:t>‹#›</a:t>
            </a:fld>
            <a:endParaRPr lang="en-US"/>
          </a:p>
        </p:txBody>
      </p:sp>
    </p:spTree>
    <p:extLst>
      <p:ext uri="{BB962C8B-B14F-4D97-AF65-F5344CB8AC3E}">
        <p14:creationId xmlns:p14="http://schemas.microsoft.com/office/powerpoint/2010/main" val="57819306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A0F4DD-E990-B564-7B6B-1CB8FDA4E45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264D472F-72C3-F2E3-2E66-DA6FCC1D6E5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23D50D08-2A1D-7D5B-62C7-05596FA8384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40CE469-EA33-E46C-C75C-8B29687E61BC}"/>
              </a:ext>
            </a:extLst>
          </p:cNvPr>
          <p:cNvSpPr>
            <a:spLocks noGrp="1"/>
          </p:cNvSpPr>
          <p:nvPr>
            <p:ph type="dt" sz="half" idx="10"/>
          </p:nvPr>
        </p:nvSpPr>
        <p:spPr/>
        <p:txBody>
          <a:bodyPr/>
          <a:lstStyle/>
          <a:p>
            <a:fld id="{A4DC5D75-B1B8-4B27-8F29-821D1F6B4349}" type="datetimeFigureOut">
              <a:rPr lang="en-US" smtClean="0"/>
              <a:t>5/1/2026</a:t>
            </a:fld>
            <a:endParaRPr lang="en-US"/>
          </a:p>
        </p:txBody>
      </p:sp>
      <p:sp>
        <p:nvSpPr>
          <p:cNvPr id="6" name="Footer Placeholder 5">
            <a:extLst>
              <a:ext uri="{FF2B5EF4-FFF2-40B4-BE49-F238E27FC236}">
                <a16:creationId xmlns:a16="http://schemas.microsoft.com/office/drawing/2014/main" id="{50F60C68-A2AB-922D-1AE1-6B849D133EA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53087DC-93D2-3562-8573-ACDD0678DFDD}"/>
              </a:ext>
            </a:extLst>
          </p:cNvPr>
          <p:cNvSpPr>
            <a:spLocks noGrp="1"/>
          </p:cNvSpPr>
          <p:nvPr>
            <p:ph type="sldNum" sz="quarter" idx="12"/>
          </p:nvPr>
        </p:nvSpPr>
        <p:spPr/>
        <p:txBody>
          <a:bodyPr/>
          <a:lstStyle/>
          <a:p>
            <a:fld id="{D0699BDB-5ADD-4A57-994C-3278565FC7A3}" type="slidenum">
              <a:rPr lang="en-US" smtClean="0"/>
              <a:t>‹#›</a:t>
            </a:fld>
            <a:endParaRPr lang="en-US"/>
          </a:p>
        </p:txBody>
      </p:sp>
    </p:spTree>
    <p:extLst>
      <p:ext uri="{BB962C8B-B14F-4D97-AF65-F5344CB8AC3E}">
        <p14:creationId xmlns:p14="http://schemas.microsoft.com/office/powerpoint/2010/main" val="151556147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9B92DB-C91B-60F6-677B-549D0DAD3C55}"/>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A8D2D4F6-DA74-F496-A85A-FADEDBCD389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D07EA3C-20C6-4384-E7D6-C7C4AC7DD591}"/>
              </a:ext>
            </a:extLst>
          </p:cNvPr>
          <p:cNvSpPr>
            <a:spLocks noGrp="1"/>
          </p:cNvSpPr>
          <p:nvPr>
            <p:ph type="dt" sz="half" idx="10"/>
          </p:nvPr>
        </p:nvSpPr>
        <p:spPr/>
        <p:txBody>
          <a:bodyPr/>
          <a:lstStyle/>
          <a:p>
            <a:fld id="{A4DC5D75-B1B8-4B27-8F29-821D1F6B4349}" type="datetimeFigureOut">
              <a:rPr lang="en-US" smtClean="0"/>
              <a:t>5/1/2026</a:t>
            </a:fld>
            <a:endParaRPr lang="en-US"/>
          </a:p>
        </p:txBody>
      </p:sp>
      <p:sp>
        <p:nvSpPr>
          <p:cNvPr id="5" name="Footer Placeholder 4">
            <a:extLst>
              <a:ext uri="{FF2B5EF4-FFF2-40B4-BE49-F238E27FC236}">
                <a16:creationId xmlns:a16="http://schemas.microsoft.com/office/drawing/2014/main" id="{955ACC79-EB87-6003-B663-CA142E19B80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2378D6F-E4FF-9CF6-F991-AB5E60398ACB}"/>
              </a:ext>
            </a:extLst>
          </p:cNvPr>
          <p:cNvSpPr>
            <a:spLocks noGrp="1"/>
          </p:cNvSpPr>
          <p:nvPr>
            <p:ph type="sldNum" sz="quarter" idx="12"/>
          </p:nvPr>
        </p:nvSpPr>
        <p:spPr/>
        <p:txBody>
          <a:bodyPr/>
          <a:lstStyle/>
          <a:p>
            <a:fld id="{D0699BDB-5ADD-4A57-994C-3278565FC7A3}" type="slidenum">
              <a:rPr lang="en-US" smtClean="0"/>
              <a:t>‹#›</a:t>
            </a:fld>
            <a:endParaRPr lang="en-US"/>
          </a:p>
        </p:txBody>
      </p:sp>
    </p:spTree>
    <p:extLst>
      <p:ext uri="{BB962C8B-B14F-4D97-AF65-F5344CB8AC3E}">
        <p14:creationId xmlns:p14="http://schemas.microsoft.com/office/powerpoint/2010/main" val="382004224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2899438-A0BE-35D8-B494-DC19CA8204E0}"/>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EF57571C-61E9-9141-611C-1063D0D5D41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762691A-D22C-4793-EDD8-376D623D748B}"/>
              </a:ext>
            </a:extLst>
          </p:cNvPr>
          <p:cNvSpPr>
            <a:spLocks noGrp="1"/>
          </p:cNvSpPr>
          <p:nvPr>
            <p:ph type="dt" sz="half" idx="10"/>
          </p:nvPr>
        </p:nvSpPr>
        <p:spPr/>
        <p:txBody>
          <a:bodyPr/>
          <a:lstStyle/>
          <a:p>
            <a:fld id="{A4DC5D75-B1B8-4B27-8F29-821D1F6B4349}" type="datetimeFigureOut">
              <a:rPr lang="en-US" smtClean="0"/>
              <a:t>5/1/2026</a:t>
            </a:fld>
            <a:endParaRPr lang="en-US"/>
          </a:p>
        </p:txBody>
      </p:sp>
      <p:sp>
        <p:nvSpPr>
          <p:cNvPr id="5" name="Footer Placeholder 4">
            <a:extLst>
              <a:ext uri="{FF2B5EF4-FFF2-40B4-BE49-F238E27FC236}">
                <a16:creationId xmlns:a16="http://schemas.microsoft.com/office/drawing/2014/main" id="{5FF091A1-E9BF-CA5B-AC32-FA658CE84A3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C513B38-A67D-07F9-0BC5-DB7132391325}"/>
              </a:ext>
            </a:extLst>
          </p:cNvPr>
          <p:cNvSpPr>
            <a:spLocks noGrp="1"/>
          </p:cNvSpPr>
          <p:nvPr>
            <p:ph type="sldNum" sz="quarter" idx="12"/>
          </p:nvPr>
        </p:nvSpPr>
        <p:spPr/>
        <p:txBody>
          <a:bodyPr/>
          <a:lstStyle/>
          <a:p>
            <a:fld id="{D0699BDB-5ADD-4A57-994C-3278565FC7A3}" type="slidenum">
              <a:rPr lang="en-US" smtClean="0"/>
              <a:t>‹#›</a:t>
            </a:fld>
            <a:endParaRPr lang="en-US"/>
          </a:p>
        </p:txBody>
      </p:sp>
    </p:spTree>
    <p:extLst>
      <p:ext uri="{BB962C8B-B14F-4D97-AF65-F5344CB8AC3E}">
        <p14:creationId xmlns:p14="http://schemas.microsoft.com/office/powerpoint/2010/main" val="231027768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9E5943E-BF5E-DC36-7D30-77233DF27D8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848FB814-BBA8-653C-6394-7B53591F902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1B307FE-4FF6-6B89-CA8D-65DBD72FDC9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A4DC5D75-B1B8-4B27-8F29-821D1F6B4349}" type="datetimeFigureOut">
              <a:rPr lang="en-US" smtClean="0"/>
              <a:t>5/1/2026</a:t>
            </a:fld>
            <a:endParaRPr lang="en-US"/>
          </a:p>
        </p:txBody>
      </p:sp>
      <p:sp>
        <p:nvSpPr>
          <p:cNvPr id="5" name="Footer Placeholder 4">
            <a:extLst>
              <a:ext uri="{FF2B5EF4-FFF2-40B4-BE49-F238E27FC236}">
                <a16:creationId xmlns:a16="http://schemas.microsoft.com/office/drawing/2014/main" id="{22D89247-FBB5-C11B-B940-283D17F5193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F54FFAE5-B23B-4598-163A-86696F47415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D0699BDB-5ADD-4A57-994C-3278565FC7A3}" type="slidenum">
              <a:rPr lang="en-US" smtClean="0"/>
              <a:t>‹#›</a:t>
            </a:fld>
            <a:endParaRPr lang="en-US"/>
          </a:p>
        </p:txBody>
      </p:sp>
    </p:spTree>
    <p:extLst>
      <p:ext uri="{BB962C8B-B14F-4D97-AF65-F5344CB8AC3E}">
        <p14:creationId xmlns:p14="http://schemas.microsoft.com/office/powerpoint/2010/main" val="112053854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bg>
      <p:bgPr>
        <a:gradFill>
          <a:gsLst>
            <a:gs pos="0">
              <a:schemeClr val="tx1">
                <a:lumMod val="85000"/>
                <a:lumOff val="15000"/>
              </a:schemeClr>
            </a:gs>
            <a:gs pos="74000">
              <a:schemeClr val="accent2">
                <a:lumMod val="40000"/>
                <a:lumOff val="60000"/>
              </a:schemeClr>
            </a:gs>
            <a:gs pos="83000">
              <a:schemeClr val="bg1">
                <a:lumMod val="75000"/>
              </a:schemeClr>
            </a:gs>
            <a:gs pos="100000">
              <a:schemeClr val="bg1"/>
            </a:gs>
          </a:gsLst>
          <a:lin ang="5400000" scaled="1"/>
        </a:gradFill>
        <a:effectLst/>
      </p:bgPr>
    </p:bg>
    <p:spTree>
      <p:nvGrpSpPr>
        <p:cNvPr id="1" name=""/>
        <p:cNvGrpSpPr/>
        <p:nvPr/>
      </p:nvGrpSpPr>
      <p:grpSpPr>
        <a:xfrm>
          <a:off x="0" y="0"/>
          <a:ext cx="0" cy="0"/>
          <a:chOff x="0" y="0"/>
          <a:chExt cx="0" cy="0"/>
        </a:xfrm>
      </p:grpSpPr>
      <p:sp>
        <p:nvSpPr>
          <p:cNvPr id="10" name="Rectangle: Diagonal Corners Snipped 9">
            <a:extLst>
              <a:ext uri="{FF2B5EF4-FFF2-40B4-BE49-F238E27FC236}">
                <a16:creationId xmlns:a16="http://schemas.microsoft.com/office/drawing/2014/main" id="{B40BE5FB-0535-283D-1136-781EA7C90FDF}"/>
              </a:ext>
            </a:extLst>
          </p:cNvPr>
          <p:cNvSpPr/>
          <p:nvPr/>
        </p:nvSpPr>
        <p:spPr>
          <a:xfrm>
            <a:off x="4851349" y="987425"/>
            <a:ext cx="6580187" cy="3352800"/>
          </a:xfrm>
          <a:prstGeom prst="snip2DiagRect">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7CE51304-C264-625D-C59E-078313B2DACD}"/>
              </a:ext>
            </a:extLst>
          </p:cNvPr>
          <p:cNvSpPr/>
          <p:nvPr/>
        </p:nvSpPr>
        <p:spPr>
          <a:xfrm>
            <a:off x="428625" y="747252"/>
            <a:ext cx="4001729" cy="6813754"/>
          </a:xfrm>
          <a:prstGeom prst="rect">
            <a:avLst/>
          </a:prstGeom>
          <a:solidFill>
            <a:schemeClr val="bg2">
              <a:lumMod val="75000"/>
            </a:schemeClr>
          </a:solidFill>
          <a:ln>
            <a:solidFill>
              <a:schemeClr val="tx1">
                <a:lumMod val="95000"/>
                <a:lumOff val="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3">
            <a:extLst>
              <a:ext uri="{FF2B5EF4-FFF2-40B4-BE49-F238E27FC236}">
                <a16:creationId xmlns:a16="http://schemas.microsoft.com/office/drawing/2014/main" id="{9BAB61BD-C5A2-3C9E-1B14-8499904A8158}"/>
              </a:ext>
            </a:extLst>
          </p:cNvPr>
          <p:cNvSpPr>
            <a:spLocks noGrp="1"/>
          </p:cNvSpPr>
          <p:nvPr>
            <p:ph type="title"/>
          </p:nvPr>
        </p:nvSpPr>
        <p:spPr/>
        <p:txBody>
          <a:bodyPr>
            <a:normAutofit/>
          </a:bodyPr>
          <a:lstStyle/>
          <a:p>
            <a:r>
              <a:rPr lang="en-US" sz="8000" dirty="0">
                <a:solidFill>
                  <a:schemeClr val="accent2"/>
                </a:solidFill>
                <a:latin typeface="Agency FB" panose="020B0503020202020204" pitchFamily="34" charset="0"/>
              </a:rPr>
              <a:t>VOD</a:t>
            </a:r>
            <a:r>
              <a:rPr lang="en-US" sz="8000" dirty="0">
                <a:latin typeface="Agency FB" panose="020B0503020202020204" pitchFamily="34" charset="0"/>
              </a:rPr>
              <a:t>KA</a:t>
            </a:r>
          </a:p>
        </p:txBody>
      </p:sp>
      <p:sp>
        <p:nvSpPr>
          <p:cNvPr id="5" name="Content Placeholder 4">
            <a:extLst>
              <a:ext uri="{FF2B5EF4-FFF2-40B4-BE49-F238E27FC236}">
                <a16:creationId xmlns:a16="http://schemas.microsoft.com/office/drawing/2014/main" id="{7BBBB95C-5928-01E5-E18C-E5DAC9AFA03B}"/>
              </a:ext>
            </a:extLst>
          </p:cNvPr>
          <p:cNvSpPr>
            <a:spLocks noGrp="1"/>
          </p:cNvSpPr>
          <p:nvPr>
            <p:ph idx="1"/>
          </p:nvPr>
        </p:nvSpPr>
        <p:spPr/>
        <p:txBody>
          <a:bodyPr/>
          <a:lstStyle/>
          <a:p>
            <a:r>
              <a:rPr lang="en-US" dirty="0"/>
              <a:t>BY: PAUL LOPEZ. DA.</a:t>
            </a:r>
          </a:p>
          <a:p>
            <a:pPr marL="0" indent="0">
              <a:buNone/>
            </a:pPr>
            <a:r>
              <a:rPr lang="en-US" sz="6000" dirty="0">
                <a:solidFill>
                  <a:schemeClr val="accent2">
                    <a:lumMod val="75000"/>
                  </a:schemeClr>
                </a:solidFill>
              </a:rPr>
              <a:t>ANALYSIS OF THE VOD</a:t>
            </a:r>
            <a:r>
              <a:rPr lang="en-US" sz="6000" dirty="0">
                <a:solidFill>
                  <a:schemeClr val="accent2"/>
                </a:solidFill>
              </a:rPr>
              <a:t>KA</a:t>
            </a:r>
            <a:r>
              <a:rPr lang="en-US" sz="6000" dirty="0"/>
              <a:t> LIQUOR INDUSTRY.</a:t>
            </a:r>
          </a:p>
        </p:txBody>
      </p:sp>
      <p:sp>
        <p:nvSpPr>
          <p:cNvPr id="6" name="Text Placeholder 5">
            <a:extLst>
              <a:ext uri="{FF2B5EF4-FFF2-40B4-BE49-F238E27FC236}">
                <a16:creationId xmlns:a16="http://schemas.microsoft.com/office/drawing/2014/main" id="{C9ABD3A1-2F35-167B-545A-74946FD7620A}"/>
              </a:ext>
            </a:extLst>
          </p:cNvPr>
          <p:cNvSpPr>
            <a:spLocks noGrp="1"/>
          </p:cNvSpPr>
          <p:nvPr>
            <p:ph type="body" sz="half" idx="2"/>
          </p:nvPr>
        </p:nvSpPr>
        <p:spPr/>
        <p:txBody>
          <a:bodyPr>
            <a:noAutofit/>
          </a:bodyPr>
          <a:lstStyle/>
          <a:p>
            <a:r>
              <a:rPr lang="en-US" sz="7200" u="sng" dirty="0">
                <a:solidFill>
                  <a:schemeClr val="tx2">
                    <a:lumMod val="50000"/>
                    <a:lumOff val="50000"/>
                  </a:schemeClr>
                </a:solidFill>
                <a:latin typeface="Aptos Display" panose="020B0004020202020204" pitchFamily="34" charset="0"/>
              </a:rPr>
              <a:t>IOWA LIQUOR SALES DB</a:t>
            </a:r>
          </a:p>
        </p:txBody>
      </p:sp>
      <p:sp>
        <p:nvSpPr>
          <p:cNvPr id="9" name="Rectangle 8">
            <a:extLst>
              <a:ext uri="{FF2B5EF4-FFF2-40B4-BE49-F238E27FC236}">
                <a16:creationId xmlns:a16="http://schemas.microsoft.com/office/drawing/2014/main" id="{CE8D8A61-4F3E-4173-2F7D-3093FC3DBE72}"/>
              </a:ext>
            </a:extLst>
          </p:cNvPr>
          <p:cNvSpPr/>
          <p:nvPr/>
        </p:nvSpPr>
        <p:spPr>
          <a:xfrm>
            <a:off x="422787" y="285135"/>
            <a:ext cx="4001729" cy="462117"/>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64615696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98" name="Rectangle 197">
            <a:extLst>
              <a:ext uri="{FF2B5EF4-FFF2-40B4-BE49-F238E27FC236}">
                <a16:creationId xmlns:a16="http://schemas.microsoft.com/office/drawing/2014/main" id="{C3896A03-3945-419A-B66B-4EE266EDD15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 y="0"/>
            <a:ext cx="6083447" cy="6858001"/>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B649436-2177-671E-FF54-75DB8B721F55}"/>
              </a:ext>
            </a:extLst>
          </p:cNvPr>
          <p:cNvSpPr>
            <a:spLocks noGrp="1"/>
          </p:cNvSpPr>
          <p:nvPr>
            <p:ph type="title"/>
          </p:nvPr>
        </p:nvSpPr>
        <p:spPr>
          <a:xfrm>
            <a:off x="1155558" y="637762"/>
            <a:ext cx="4284397" cy="5576770"/>
          </a:xfrm>
        </p:spPr>
        <p:txBody>
          <a:bodyPr vert="horz" lIns="91440" tIns="45720" rIns="91440" bIns="45720" rtlCol="0" anchor="ctr">
            <a:normAutofit/>
          </a:bodyPr>
          <a:lstStyle/>
          <a:p>
            <a:r>
              <a:rPr lang="en-US" sz="6600" kern="1200" dirty="0">
                <a:solidFill>
                  <a:schemeClr val="bg1"/>
                </a:solidFill>
                <a:latin typeface="+mj-lt"/>
                <a:ea typeface="+mj-ea"/>
                <a:cs typeface="+mj-cs"/>
              </a:rPr>
              <a:t>SCENARIO.</a:t>
            </a:r>
          </a:p>
        </p:txBody>
      </p:sp>
      <p:sp>
        <p:nvSpPr>
          <p:cNvPr id="199" name="Rectangle 198">
            <a:extLst>
              <a:ext uri="{FF2B5EF4-FFF2-40B4-BE49-F238E27FC236}">
                <a16:creationId xmlns:a16="http://schemas.microsoft.com/office/drawing/2014/main" id="{B34F5AD2-EDBD-4BBD-A55C-EAFFD0C7097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096000" y="0"/>
            <a:ext cx="6095990" cy="6858001"/>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F28F1171-3444-A966-0F38-36B151083ACC}"/>
              </a:ext>
            </a:extLst>
          </p:cNvPr>
          <p:cNvSpPr txBox="1"/>
          <p:nvPr/>
        </p:nvSpPr>
        <p:spPr>
          <a:xfrm>
            <a:off x="6204155" y="674400"/>
            <a:ext cx="5427407" cy="5509200"/>
          </a:xfrm>
          <a:prstGeom prst="rect">
            <a:avLst/>
          </a:prstGeom>
          <a:noFill/>
        </p:spPr>
        <p:txBody>
          <a:bodyPr wrap="square" rtlCol="0">
            <a:spAutoFit/>
          </a:bodyPr>
          <a:lstStyle/>
          <a:p>
            <a:pPr marL="285750" indent="-285750">
              <a:buFont typeface="Arial" panose="020B0604020202020204" pitchFamily="34" charset="0"/>
              <a:buChar char="•"/>
            </a:pPr>
            <a:r>
              <a:rPr lang="en-US" sz="3200" dirty="0">
                <a:latin typeface="Bahnschrift SemiLight" panose="020B0502040204020203" pitchFamily="34" charset="0"/>
              </a:rPr>
              <a:t>Brought in as an Analyst skimming through and organizing sales data for a financial status end of quarter.</a:t>
            </a:r>
          </a:p>
          <a:p>
            <a:pPr marL="285750" indent="-285750">
              <a:buFont typeface="Arial" panose="020B0604020202020204" pitchFamily="34" charset="0"/>
              <a:buChar char="•"/>
            </a:pPr>
            <a:r>
              <a:rPr lang="en-US" sz="3200" dirty="0">
                <a:latin typeface="Bahnschrift SemiLight" panose="020B0502040204020203" pitchFamily="34" charset="0"/>
              </a:rPr>
              <a:t>Alongside helping the industry/company bring in more sales and what to improve and optimize for the next year/quarter.</a:t>
            </a:r>
          </a:p>
          <a:p>
            <a:pPr marL="285750" indent="-285750">
              <a:buFont typeface="Arial" panose="020B0604020202020204" pitchFamily="34" charset="0"/>
              <a:buChar char="•"/>
            </a:pPr>
            <a:endParaRPr lang="en-US" sz="3200" dirty="0">
              <a:latin typeface="Bahnschrift SemiLight" panose="020B0502040204020203" pitchFamily="34" charset="0"/>
            </a:endParaRPr>
          </a:p>
        </p:txBody>
      </p:sp>
    </p:spTree>
    <p:extLst>
      <p:ext uri="{BB962C8B-B14F-4D97-AF65-F5344CB8AC3E}">
        <p14:creationId xmlns:p14="http://schemas.microsoft.com/office/powerpoint/2010/main" val="196476571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8E2CC403-21CD-41DF-BAC4-329D7FF03C5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8D44898-5573-109C-5021-E9A3ECEF6ED2}"/>
              </a:ext>
            </a:extLst>
          </p:cNvPr>
          <p:cNvSpPr>
            <a:spLocks noGrp="1"/>
          </p:cNvSpPr>
          <p:nvPr>
            <p:ph type="title"/>
          </p:nvPr>
        </p:nvSpPr>
        <p:spPr>
          <a:xfrm>
            <a:off x="1078828" y="1147158"/>
            <a:ext cx="6038470" cy="4713316"/>
          </a:xfrm>
        </p:spPr>
        <p:txBody>
          <a:bodyPr vert="horz" lIns="91440" tIns="45720" rIns="91440" bIns="45720" rtlCol="0" anchor="ctr">
            <a:normAutofit/>
          </a:bodyPr>
          <a:lstStyle/>
          <a:p>
            <a:r>
              <a:rPr lang="en-US" sz="6000" kern="1200" dirty="0">
                <a:solidFill>
                  <a:schemeClr val="tx1"/>
                </a:solidFill>
                <a:latin typeface="+mj-lt"/>
                <a:ea typeface="+mj-ea"/>
                <a:cs typeface="+mj-cs"/>
              </a:rPr>
              <a:t>SUMMARY.</a:t>
            </a:r>
          </a:p>
        </p:txBody>
      </p:sp>
      <p:grpSp>
        <p:nvGrpSpPr>
          <p:cNvPr id="9" name="Group 8">
            <a:extLst>
              <a:ext uri="{FF2B5EF4-FFF2-40B4-BE49-F238E27FC236}">
                <a16:creationId xmlns:a16="http://schemas.microsoft.com/office/drawing/2014/main" id="{B13AA5FE-3FFC-4725-9ADD-E428544EC61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3154317"/>
            <a:ext cx="731521" cy="673460"/>
            <a:chOff x="3940602" y="308034"/>
            <a:chExt cx="2116791" cy="3428999"/>
          </a:xfrm>
          <a:solidFill>
            <a:schemeClr val="accent4"/>
          </a:solidFill>
        </p:grpSpPr>
        <p:sp>
          <p:nvSpPr>
            <p:cNvPr id="10" name="Rectangle 9">
              <a:extLst>
                <a:ext uri="{FF2B5EF4-FFF2-40B4-BE49-F238E27FC236}">
                  <a16:creationId xmlns:a16="http://schemas.microsoft.com/office/drawing/2014/main" id="{4FA70700-3F72-44D4-8175-FEB2B9B2332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7093C0F6-5741-4C9D-90FF-A25824BFC57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921B2E1B-E962-432C-ADA1-2934CE3C549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4" name="Rectangle 13">
            <a:extLst>
              <a:ext uri="{FF2B5EF4-FFF2-40B4-BE49-F238E27FC236}">
                <a16:creationId xmlns:a16="http://schemas.microsoft.com/office/drawing/2014/main" id="{7653717E-6F8C-43E0-9893-C03AE87D18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0697670" y="0"/>
            <a:ext cx="1494330"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35BB14B4-EC3F-47C7-9AF3-B0E017B75C4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666160" y="391886"/>
            <a:ext cx="4029016" cy="6017078"/>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7FC93298-4BD6-FB0F-08F7-BA0C9FD998B8}"/>
              </a:ext>
            </a:extLst>
          </p:cNvPr>
          <p:cNvSpPr/>
          <p:nvPr/>
        </p:nvSpPr>
        <p:spPr>
          <a:xfrm>
            <a:off x="5545394" y="391886"/>
            <a:ext cx="4375354" cy="167288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600" dirty="0">
                <a:latin typeface="Britannic Bold" panose="020B0903060703020204" pitchFamily="34" charset="0"/>
              </a:rPr>
              <a:t>WHAT DO WE SELL?</a:t>
            </a:r>
          </a:p>
          <a:p>
            <a:pPr algn="ctr"/>
            <a:r>
              <a:rPr lang="en-US" sz="3600" dirty="0">
                <a:latin typeface="Britannic Bold" panose="020B0903060703020204" pitchFamily="34" charset="0"/>
              </a:rPr>
              <a:t>VODKA.</a:t>
            </a:r>
          </a:p>
        </p:txBody>
      </p:sp>
      <p:sp>
        <p:nvSpPr>
          <p:cNvPr id="5" name="Rectangle 4">
            <a:extLst>
              <a:ext uri="{FF2B5EF4-FFF2-40B4-BE49-F238E27FC236}">
                <a16:creationId xmlns:a16="http://schemas.microsoft.com/office/drawing/2014/main" id="{53C29908-1D95-ABFD-EAB6-76E3B91D67FB}"/>
              </a:ext>
            </a:extLst>
          </p:cNvPr>
          <p:cNvSpPr/>
          <p:nvPr/>
        </p:nvSpPr>
        <p:spPr>
          <a:xfrm>
            <a:off x="5544761" y="2820046"/>
            <a:ext cx="4375354" cy="167288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latin typeface="Britannic Bold" panose="020B0903060703020204" pitchFamily="34" charset="0"/>
              </a:rPr>
              <a:t>TOTAL REVENUE SALES LAST QUARTER:</a:t>
            </a:r>
          </a:p>
          <a:p>
            <a:pPr algn="ctr"/>
            <a:r>
              <a:rPr lang="en-US" sz="2400" dirty="0">
                <a:latin typeface="Britannic Bold" panose="020B0903060703020204" pitchFamily="34" charset="0"/>
              </a:rPr>
              <a:t>$22,173,171</a:t>
            </a:r>
          </a:p>
          <a:p>
            <a:pPr algn="ctr"/>
            <a:endParaRPr lang="en-US" sz="2400" dirty="0"/>
          </a:p>
        </p:txBody>
      </p:sp>
      <p:sp>
        <p:nvSpPr>
          <p:cNvPr id="6" name="Rectangle 5">
            <a:extLst>
              <a:ext uri="{FF2B5EF4-FFF2-40B4-BE49-F238E27FC236}">
                <a16:creationId xmlns:a16="http://schemas.microsoft.com/office/drawing/2014/main" id="{36BD5956-5463-19ED-52F7-7B846A6A1EC3}"/>
              </a:ext>
            </a:extLst>
          </p:cNvPr>
          <p:cNvSpPr/>
          <p:nvPr/>
        </p:nvSpPr>
        <p:spPr>
          <a:xfrm>
            <a:off x="5531927" y="5024030"/>
            <a:ext cx="4375354" cy="167288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latin typeface="Britannic Bold" panose="020B0903060703020204" pitchFamily="34" charset="0"/>
              </a:rPr>
              <a:t>STORES SELLING OUR PRODUCT:</a:t>
            </a:r>
          </a:p>
          <a:p>
            <a:pPr algn="ctr"/>
            <a:r>
              <a:rPr lang="en-US" sz="2400" dirty="0">
                <a:latin typeface="Britannic Bold" panose="020B0903060703020204" pitchFamily="34" charset="0"/>
              </a:rPr>
              <a:t>1,000.</a:t>
            </a:r>
          </a:p>
        </p:txBody>
      </p:sp>
    </p:spTree>
    <p:extLst>
      <p:ext uri="{BB962C8B-B14F-4D97-AF65-F5344CB8AC3E}">
        <p14:creationId xmlns:p14="http://schemas.microsoft.com/office/powerpoint/2010/main" val="385339573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4" name="Down Arrow 7">
            <a:extLst>
              <a:ext uri="{FF2B5EF4-FFF2-40B4-BE49-F238E27FC236}">
                <a16:creationId xmlns:a16="http://schemas.microsoft.com/office/drawing/2014/main" id="{D4771268-CB57-404A-9271-370EB28F60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800100" y="1491343"/>
            <a:ext cx="3333749" cy="3499103"/>
          </a:xfrm>
          <a:prstGeom prst="downArrow">
            <a:avLst>
              <a:gd name="adj1" fmla="val 100000"/>
              <a:gd name="adj2" fmla="val 15788"/>
            </a:avLst>
          </a:prstGeom>
          <a:solidFill>
            <a:srgbClr val="404040"/>
          </a:solidFill>
          <a:ln w="539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itle 6">
            <a:extLst>
              <a:ext uri="{FF2B5EF4-FFF2-40B4-BE49-F238E27FC236}">
                <a16:creationId xmlns:a16="http://schemas.microsoft.com/office/drawing/2014/main" id="{8358901B-56DA-1F27-AE14-873B554CB636}"/>
              </a:ext>
            </a:extLst>
          </p:cNvPr>
          <p:cNvSpPr>
            <a:spLocks noGrp="1"/>
          </p:cNvSpPr>
          <p:nvPr>
            <p:ph type="title"/>
          </p:nvPr>
        </p:nvSpPr>
        <p:spPr>
          <a:xfrm>
            <a:off x="1028700" y="1967266"/>
            <a:ext cx="2628900" cy="2547257"/>
          </a:xfrm>
          <a:noFill/>
        </p:spPr>
        <p:txBody>
          <a:bodyPr anchor="ctr">
            <a:normAutofit fontScale="90000"/>
          </a:bodyPr>
          <a:lstStyle/>
          <a:p>
            <a:pPr algn="ctr"/>
            <a:r>
              <a:rPr lang="en-US" sz="3600" dirty="0">
                <a:solidFill>
                  <a:srgbClr val="FFFFFF"/>
                </a:solidFill>
              </a:rPr>
              <a:t>STRENGTH 1: TOP 5 HIGHEST SALE COMPANIES.</a:t>
            </a:r>
          </a:p>
        </p:txBody>
      </p:sp>
      <p:pic>
        <p:nvPicPr>
          <p:cNvPr id="9" name="Picture 8">
            <a:extLst>
              <a:ext uri="{FF2B5EF4-FFF2-40B4-BE49-F238E27FC236}">
                <a16:creationId xmlns:a16="http://schemas.microsoft.com/office/drawing/2014/main" id="{A40DC561-18CC-3E36-1D44-805E880F3B6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777316" y="1342771"/>
            <a:ext cx="6780700" cy="4170129"/>
          </a:xfrm>
          <a:prstGeom prst="rect">
            <a:avLst/>
          </a:prstGeom>
        </p:spPr>
      </p:pic>
    </p:spTree>
    <p:extLst>
      <p:ext uri="{BB962C8B-B14F-4D97-AF65-F5344CB8AC3E}">
        <p14:creationId xmlns:p14="http://schemas.microsoft.com/office/powerpoint/2010/main" val="60307347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64CD798E-61EB-B601-4943-61814CA33CD4}"/>
              </a:ext>
            </a:extLst>
          </p:cNvPr>
          <p:cNvPicPr>
            <a:picLocks noChangeAspect="1"/>
          </p:cNvPicPr>
          <p:nvPr/>
        </p:nvPicPr>
        <p:blipFill>
          <a:blip r:embed="rId2">
            <a:extLst>
              <a:ext uri="{28A0092B-C50C-407E-A947-70E740481C1C}">
                <a14:useLocalDpi xmlns:a14="http://schemas.microsoft.com/office/drawing/2010/main" val="0"/>
              </a:ext>
            </a:extLst>
          </a:blip>
          <a:srcRect t="843" b="6182"/>
          <a:stretch>
            <a:fillRect/>
          </a:stretch>
        </p:blipFill>
        <p:spPr>
          <a:xfrm>
            <a:off x="20" y="10"/>
            <a:ext cx="12191980" cy="6857990"/>
          </a:xfrm>
          <a:prstGeom prst="rect">
            <a:avLst/>
          </a:prstGeom>
        </p:spPr>
      </p:pic>
      <p:sp>
        <p:nvSpPr>
          <p:cNvPr id="9" name="Rectangle 8">
            <a:extLst>
              <a:ext uri="{FF2B5EF4-FFF2-40B4-BE49-F238E27FC236}">
                <a16:creationId xmlns:a16="http://schemas.microsoft.com/office/drawing/2014/main" id="{37C89E4B-3C9F-44B9-8B86-D9E3D112D8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5320142"/>
            <a:ext cx="12192000" cy="736551"/>
          </a:xfrm>
          <a:prstGeom prst="rect">
            <a:avLst/>
          </a:prstGeom>
          <a:solidFill>
            <a:schemeClr val="bg1">
              <a:alpha val="9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DDB0E5C-8B2F-4DCC-D29D-17E506151319}"/>
              </a:ext>
            </a:extLst>
          </p:cNvPr>
          <p:cNvSpPr>
            <a:spLocks noGrp="1"/>
          </p:cNvSpPr>
          <p:nvPr>
            <p:ph type="title"/>
          </p:nvPr>
        </p:nvSpPr>
        <p:spPr>
          <a:xfrm>
            <a:off x="523875" y="5317240"/>
            <a:ext cx="11210925" cy="744836"/>
          </a:xfrm>
        </p:spPr>
        <p:txBody>
          <a:bodyPr>
            <a:normAutofit/>
          </a:bodyPr>
          <a:lstStyle/>
          <a:p>
            <a:pPr algn="ctr"/>
            <a:r>
              <a:rPr lang="en-US" sz="3600" dirty="0">
                <a:solidFill>
                  <a:schemeClr val="tx1">
                    <a:lumMod val="85000"/>
                    <a:lumOff val="15000"/>
                  </a:schemeClr>
                </a:solidFill>
              </a:rPr>
              <a:t>WEAKNESS 1: LACK OF INTEREST</a:t>
            </a:r>
          </a:p>
        </p:txBody>
      </p:sp>
      <p:cxnSp>
        <p:nvCxnSpPr>
          <p:cNvPr id="11" name="Straight Connector 10">
            <a:extLst>
              <a:ext uri="{FF2B5EF4-FFF2-40B4-BE49-F238E27FC236}">
                <a16:creationId xmlns:a16="http://schemas.microsoft.com/office/drawing/2014/main" id="{AA2EAA10-076F-46BD-8F0F-B9A2FB77A85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5241983"/>
            <a:ext cx="12192000" cy="0"/>
          </a:xfrm>
          <a:prstGeom prst="line">
            <a:avLst/>
          </a:prstGeom>
          <a:ln w="41275">
            <a:solidFill>
              <a:schemeClr val="bg1">
                <a:alpha val="90000"/>
              </a:schemeClr>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D891E407-403B-4764-86C9-33A56D3BCAA3}"/>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6134852"/>
            <a:ext cx="12192000" cy="0"/>
          </a:xfrm>
          <a:prstGeom prst="line">
            <a:avLst/>
          </a:prstGeom>
          <a:ln w="41275">
            <a:solidFill>
              <a:schemeClr val="bg1">
                <a:alpha val="90000"/>
              </a:schemeClr>
            </a:solidFill>
          </a:ln>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566C211D-1CC9-C1A1-16C5-A47730BC857D}"/>
              </a:ext>
            </a:extLst>
          </p:cNvPr>
          <p:cNvSpPr txBox="1"/>
          <p:nvPr/>
        </p:nvSpPr>
        <p:spPr>
          <a:xfrm>
            <a:off x="648929" y="324465"/>
            <a:ext cx="2546555" cy="923330"/>
          </a:xfrm>
          <a:prstGeom prst="rect">
            <a:avLst/>
          </a:prstGeom>
          <a:noFill/>
        </p:spPr>
        <p:txBody>
          <a:bodyPr wrap="square" rtlCol="0">
            <a:spAutoFit/>
          </a:bodyPr>
          <a:lstStyle/>
          <a:p>
            <a:r>
              <a:rPr lang="en-US" dirty="0"/>
              <a:t>"Russian Standard Original Vodka“ – 476 Units</a:t>
            </a:r>
          </a:p>
        </p:txBody>
      </p:sp>
      <p:sp>
        <p:nvSpPr>
          <p:cNvPr id="6" name="TextBox 5">
            <a:extLst>
              <a:ext uri="{FF2B5EF4-FFF2-40B4-BE49-F238E27FC236}">
                <a16:creationId xmlns:a16="http://schemas.microsoft.com/office/drawing/2014/main" id="{683664CC-7D02-006A-DBCB-74217B0510D3}"/>
              </a:ext>
            </a:extLst>
          </p:cNvPr>
          <p:cNvSpPr txBox="1"/>
          <p:nvPr/>
        </p:nvSpPr>
        <p:spPr>
          <a:xfrm>
            <a:off x="648928" y="1425677"/>
            <a:ext cx="2020528" cy="923330"/>
          </a:xfrm>
          <a:prstGeom prst="rect">
            <a:avLst/>
          </a:prstGeom>
          <a:noFill/>
        </p:spPr>
        <p:txBody>
          <a:bodyPr wrap="square" rtlCol="0">
            <a:spAutoFit/>
          </a:bodyPr>
          <a:lstStyle/>
          <a:p>
            <a:r>
              <a:rPr lang="en-US" dirty="0"/>
              <a:t>"Russian Standard Platinum Vodka“ – 4 units</a:t>
            </a:r>
          </a:p>
        </p:txBody>
      </p:sp>
      <p:sp>
        <p:nvSpPr>
          <p:cNvPr id="7" name="TextBox 6">
            <a:extLst>
              <a:ext uri="{FF2B5EF4-FFF2-40B4-BE49-F238E27FC236}">
                <a16:creationId xmlns:a16="http://schemas.microsoft.com/office/drawing/2014/main" id="{DF358E17-E2DD-BAA6-8C5B-8CDF5BDABA71}"/>
              </a:ext>
            </a:extLst>
          </p:cNvPr>
          <p:cNvSpPr txBox="1"/>
          <p:nvPr/>
        </p:nvSpPr>
        <p:spPr>
          <a:xfrm>
            <a:off x="648928" y="2526890"/>
            <a:ext cx="2172929" cy="646331"/>
          </a:xfrm>
          <a:prstGeom prst="rect">
            <a:avLst/>
          </a:prstGeom>
          <a:noFill/>
        </p:spPr>
        <p:txBody>
          <a:bodyPr wrap="square" rtlCol="0">
            <a:spAutoFit/>
          </a:bodyPr>
          <a:lstStyle/>
          <a:p>
            <a:r>
              <a:rPr lang="en-US" dirty="0"/>
              <a:t>"Russian Standard Vodka“ – 2 units</a:t>
            </a:r>
          </a:p>
        </p:txBody>
      </p:sp>
      <p:sp>
        <p:nvSpPr>
          <p:cNvPr id="8" name="TextBox 7">
            <a:extLst>
              <a:ext uri="{FF2B5EF4-FFF2-40B4-BE49-F238E27FC236}">
                <a16:creationId xmlns:a16="http://schemas.microsoft.com/office/drawing/2014/main" id="{718BDA59-A915-1738-6D97-EB3F3F1765F6}"/>
              </a:ext>
            </a:extLst>
          </p:cNvPr>
          <p:cNvSpPr txBox="1"/>
          <p:nvPr/>
        </p:nvSpPr>
        <p:spPr>
          <a:xfrm>
            <a:off x="648929" y="3775587"/>
            <a:ext cx="1720645" cy="923330"/>
          </a:xfrm>
          <a:prstGeom prst="rect">
            <a:avLst/>
          </a:prstGeom>
          <a:noFill/>
        </p:spPr>
        <p:txBody>
          <a:bodyPr wrap="square" rtlCol="0">
            <a:spAutoFit/>
          </a:bodyPr>
          <a:lstStyle/>
          <a:p>
            <a:r>
              <a:rPr lang="en-US" dirty="0"/>
              <a:t>"Zu Bison Grass Vodka“ – 4 Units</a:t>
            </a:r>
          </a:p>
        </p:txBody>
      </p:sp>
      <p:sp>
        <p:nvSpPr>
          <p:cNvPr id="10" name="Rectangle 9">
            <a:extLst>
              <a:ext uri="{FF2B5EF4-FFF2-40B4-BE49-F238E27FC236}">
                <a16:creationId xmlns:a16="http://schemas.microsoft.com/office/drawing/2014/main" id="{8AB1AC82-62CB-BBDD-B086-11460147404E}"/>
              </a:ext>
            </a:extLst>
          </p:cNvPr>
          <p:cNvSpPr/>
          <p:nvPr/>
        </p:nvSpPr>
        <p:spPr>
          <a:xfrm>
            <a:off x="255639" y="409164"/>
            <a:ext cx="393290" cy="39868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09A74C1-2A0E-0AEB-A58B-C909D8953EE4}"/>
              </a:ext>
            </a:extLst>
          </p:cNvPr>
          <p:cNvSpPr/>
          <p:nvPr/>
        </p:nvSpPr>
        <p:spPr>
          <a:xfrm>
            <a:off x="235974" y="1616016"/>
            <a:ext cx="412955" cy="409424"/>
          </a:xfrm>
          <a:prstGeom prst="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77641EEB-0CCC-2FD3-1EBF-9F5FEF5CAC91}"/>
              </a:ext>
            </a:extLst>
          </p:cNvPr>
          <p:cNvSpPr txBox="1"/>
          <p:nvPr/>
        </p:nvSpPr>
        <p:spPr>
          <a:xfrm>
            <a:off x="226141" y="3817203"/>
            <a:ext cx="412955" cy="491610"/>
          </a:xfrm>
          <a:prstGeom prst="rect">
            <a:avLst/>
          </a:prstGeom>
          <a:solidFill>
            <a:schemeClr val="accent1">
              <a:lumMod val="60000"/>
              <a:lumOff val="40000"/>
            </a:schemeClr>
          </a:solidFill>
        </p:spPr>
        <p:txBody>
          <a:bodyPr wrap="square" rtlCol="0">
            <a:spAutoFit/>
          </a:bodyPr>
          <a:lstStyle/>
          <a:p>
            <a:endParaRPr lang="en-US" dirty="0"/>
          </a:p>
        </p:txBody>
      </p:sp>
      <p:sp>
        <p:nvSpPr>
          <p:cNvPr id="15" name="Rectangle 14">
            <a:extLst>
              <a:ext uri="{FF2B5EF4-FFF2-40B4-BE49-F238E27FC236}">
                <a16:creationId xmlns:a16="http://schemas.microsoft.com/office/drawing/2014/main" id="{9CA3C455-84EB-9087-2D3C-AC1F2CD1AF1C}"/>
              </a:ext>
            </a:extLst>
          </p:cNvPr>
          <p:cNvSpPr/>
          <p:nvPr/>
        </p:nvSpPr>
        <p:spPr>
          <a:xfrm>
            <a:off x="226142" y="2833612"/>
            <a:ext cx="412955" cy="386541"/>
          </a:xfrm>
          <a:prstGeom prst="rect">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99697138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7" name="Flowchart: Document 16">
            <a:extLst>
              <a:ext uri="{FF2B5EF4-FFF2-40B4-BE49-F238E27FC236}">
                <a16:creationId xmlns:a16="http://schemas.microsoft.com/office/drawing/2014/main" id="{D12DDE76-C203-4047-9998-63900085B5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38175" y="0"/>
            <a:ext cx="3248025" cy="3400426"/>
          </a:xfrm>
          <a:prstGeom prst="flowChartDocumen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CF7F4B5-8CCA-65F2-4179-3C80DFE44675}"/>
              </a:ext>
            </a:extLst>
          </p:cNvPr>
          <p:cNvSpPr>
            <a:spLocks noGrp="1"/>
          </p:cNvSpPr>
          <p:nvPr>
            <p:ph type="title"/>
          </p:nvPr>
        </p:nvSpPr>
        <p:spPr>
          <a:xfrm>
            <a:off x="838200" y="171162"/>
            <a:ext cx="2840182" cy="2371148"/>
          </a:xfrm>
        </p:spPr>
        <p:txBody>
          <a:bodyPr>
            <a:normAutofit fontScale="90000"/>
          </a:bodyPr>
          <a:lstStyle/>
          <a:p>
            <a:r>
              <a:rPr lang="en-US" sz="3200" dirty="0">
                <a:solidFill>
                  <a:srgbClr val="FFFFFF"/>
                </a:solidFill>
              </a:rPr>
              <a:t>OPPORTUNITY 1:</a:t>
            </a:r>
            <a:br>
              <a:rPr lang="en-US" sz="3200" dirty="0">
                <a:solidFill>
                  <a:srgbClr val="FFFFFF"/>
                </a:solidFill>
              </a:rPr>
            </a:br>
            <a:r>
              <a:rPr lang="en-US" sz="3200" dirty="0">
                <a:solidFill>
                  <a:srgbClr val="FFFFFF"/>
                </a:solidFill>
              </a:rPr>
              <a:t>HIGHEST SALES OF VODKA VS TEQUILA</a:t>
            </a:r>
          </a:p>
        </p:txBody>
      </p:sp>
      <p:pic>
        <p:nvPicPr>
          <p:cNvPr id="4" name="Picture 3">
            <a:extLst>
              <a:ext uri="{FF2B5EF4-FFF2-40B4-BE49-F238E27FC236}">
                <a16:creationId xmlns:a16="http://schemas.microsoft.com/office/drawing/2014/main" id="{551B4604-D560-CAB8-07BB-977974FDDFD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207933" y="1234411"/>
            <a:ext cx="7347537" cy="4390153"/>
          </a:xfrm>
          <a:prstGeom prst="rect">
            <a:avLst/>
          </a:prstGeom>
        </p:spPr>
      </p:pic>
    </p:spTree>
    <p:extLst>
      <p:ext uri="{BB962C8B-B14F-4D97-AF65-F5344CB8AC3E}">
        <p14:creationId xmlns:p14="http://schemas.microsoft.com/office/powerpoint/2010/main" val="176030451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Down Arrow 7">
            <a:extLst>
              <a:ext uri="{FF2B5EF4-FFF2-40B4-BE49-F238E27FC236}">
                <a16:creationId xmlns:a16="http://schemas.microsoft.com/office/drawing/2014/main" id="{D4771268-CB57-404A-9271-370EB28F60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800100" y="1491343"/>
            <a:ext cx="3333749" cy="3499103"/>
          </a:xfrm>
          <a:prstGeom prst="downArrow">
            <a:avLst>
              <a:gd name="adj1" fmla="val 100000"/>
              <a:gd name="adj2" fmla="val 15788"/>
            </a:avLst>
          </a:prstGeom>
          <a:solidFill>
            <a:srgbClr val="404040"/>
          </a:solidFill>
          <a:ln w="539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4BDC079-3D6B-D94C-6F40-737BA39B5FB7}"/>
              </a:ext>
            </a:extLst>
          </p:cNvPr>
          <p:cNvSpPr>
            <a:spLocks noGrp="1"/>
          </p:cNvSpPr>
          <p:nvPr>
            <p:ph type="title"/>
          </p:nvPr>
        </p:nvSpPr>
        <p:spPr>
          <a:xfrm>
            <a:off x="1028700" y="1967266"/>
            <a:ext cx="2628900" cy="2547257"/>
          </a:xfrm>
          <a:noFill/>
        </p:spPr>
        <p:txBody>
          <a:bodyPr anchor="ctr">
            <a:normAutofit fontScale="90000"/>
          </a:bodyPr>
          <a:lstStyle/>
          <a:p>
            <a:pPr algn="ctr"/>
            <a:r>
              <a:rPr lang="en-US" sz="3600" dirty="0">
                <a:solidFill>
                  <a:srgbClr val="FFFFFF"/>
                </a:solidFill>
              </a:rPr>
              <a:t>THREAT 1:</a:t>
            </a:r>
            <a:br>
              <a:rPr lang="en-US" sz="3600" dirty="0">
                <a:solidFill>
                  <a:srgbClr val="FFFFFF"/>
                </a:solidFill>
              </a:rPr>
            </a:br>
            <a:r>
              <a:rPr lang="en-US" sz="3600" dirty="0">
                <a:solidFill>
                  <a:srgbClr val="FFFFFF"/>
                </a:solidFill>
              </a:rPr>
              <a:t>TEQUILA VS WHISKEY SALES PER 2K UNITS</a:t>
            </a:r>
          </a:p>
        </p:txBody>
      </p:sp>
      <p:pic>
        <p:nvPicPr>
          <p:cNvPr id="4" name="Picture 3">
            <a:extLst>
              <a:ext uri="{FF2B5EF4-FFF2-40B4-BE49-F238E27FC236}">
                <a16:creationId xmlns:a16="http://schemas.microsoft.com/office/drawing/2014/main" id="{E4FD60FC-731C-52CB-6743-36375713F85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777316" y="1376673"/>
            <a:ext cx="6780700" cy="4102324"/>
          </a:xfrm>
          <a:prstGeom prst="rect">
            <a:avLst/>
          </a:prstGeom>
        </p:spPr>
      </p:pic>
    </p:spTree>
    <p:extLst>
      <p:ext uri="{BB962C8B-B14F-4D97-AF65-F5344CB8AC3E}">
        <p14:creationId xmlns:p14="http://schemas.microsoft.com/office/powerpoint/2010/main" val="412124343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C3896A03-3945-419A-B66B-4EE266EDD15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 y="0"/>
            <a:ext cx="4654286" cy="6858001"/>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7DF6483-A53E-D945-59E0-587808333F6C}"/>
              </a:ext>
            </a:extLst>
          </p:cNvPr>
          <p:cNvSpPr>
            <a:spLocks noGrp="1"/>
          </p:cNvSpPr>
          <p:nvPr>
            <p:ph type="title"/>
          </p:nvPr>
        </p:nvSpPr>
        <p:spPr>
          <a:xfrm>
            <a:off x="1155559" y="637762"/>
            <a:ext cx="2899568" cy="5576770"/>
          </a:xfrm>
        </p:spPr>
        <p:txBody>
          <a:bodyPr vert="horz" lIns="91440" tIns="45720" rIns="91440" bIns="45720" rtlCol="0" anchor="ctr">
            <a:normAutofit/>
          </a:bodyPr>
          <a:lstStyle/>
          <a:p>
            <a:r>
              <a:rPr lang="en-US" sz="4800" kern="1200" dirty="0">
                <a:solidFill>
                  <a:schemeClr val="bg1"/>
                </a:solidFill>
                <a:latin typeface="Britannic Bold" panose="020B0903060703020204" pitchFamily="34" charset="0"/>
              </a:rPr>
              <a:t>SUMMARY</a:t>
            </a:r>
          </a:p>
        </p:txBody>
      </p:sp>
      <p:sp>
        <p:nvSpPr>
          <p:cNvPr id="9" name="Rectangle 8">
            <a:extLst>
              <a:ext uri="{FF2B5EF4-FFF2-40B4-BE49-F238E27FC236}">
                <a16:creationId xmlns:a16="http://schemas.microsoft.com/office/drawing/2014/main" id="{B34F5AD2-EDBD-4BBD-A55C-EAFFD0C7097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52535" y="0"/>
            <a:ext cx="7539455" cy="6858001"/>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1F115D0D-67D8-0162-ABCD-1523DF8D5F7D}"/>
              </a:ext>
            </a:extLst>
          </p:cNvPr>
          <p:cNvSpPr/>
          <p:nvPr/>
        </p:nvSpPr>
        <p:spPr>
          <a:xfrm>
            <a:off x="4783012" y="0"/>
            <a:ext cx="7224765" cy="148467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STRENGTH:</a:t>
            </a:r>
          </a:p>
          <a:p>
            <a:pPr algn="ctr"/>
            <a:r>
              <a:rPr lang="en-US" dirty="0"/>
              <a:t>Our leading companies are selling in the millions threshold, while our stores are also selling in the tens of thousands. Continue current plans.</a:t>
            </a:r>
          </a:p>
        </p:txBody>
      </p:sp>
      <p:sp>
        <p:nvSpPr>
          <p:cNvPr id="10" name="Rectangle 9">
            <a:extLst>
              <a:ext uri="{FF2B5EF4-FFF2-40B4-BE49-F238E27FC236}">
                <a16:creationId xmlns:a16="http://schemas.microsoft.com/office/drawing/2014/main" id="{11165F1D-E984-CA9D-6564-975D0C0ED3A8}"/>
              </a:ext>
            </a:extLst>
          </p:cNvPr>
          <p:cNvSpPr/>
          <p:nvPr/>
        </p:nvSpPr>
        <p:spPr>
          <a:xfrm>
            <a:off x="4783011" y="1715729"/>
            <a:ext cx="7224765" cy="148467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WEAKNESS:</a:t>
            </a:r>
          </a:p>
          <a:p>
            <a:pPr algn="ctr"/>
            <a:r>
              <a:rPr lang="en-US" dirty="0"/>
              <a:t>Low interest in our “premium” product-line with single digit sales, alongside our lowest store sales going on double digits. Discontinue the single digit selling lines and prepare to liquate our lowest selling stores in case of emergency.</a:t>
            </a:r>
          </a:p>
        </p:txBody>
      </p:sp>
      <p:sp>
        <p:nvSpPr>
          <p:cNvPr id="11" name="Rectangle 10">
            <a:extLst>
              <a:ext uri="{FF2B5EF4-FFF2-40B4-BE49-F238E27FC236}">
                <a16:creationId xmlns:a16="http://schemas.microsoft.com/office/drawing/2014/main" id="{4A9E62FA-7A70-D60E-F02D-C3EB7AE4ED1D}"/>
              </a:ext>
            </a:extLst>
          </p:cNvPr>
          <p:cNvSpPr/>
          <p:nvPr/>
        </p:nvSpPr>
        <p:spPr>
          <a:xfrm>
            <a:off x="4783011" y="3426147"/>
            <a:ext cx="7224765" cy="148467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OPPORTUNITY:</a:t>
            </a:r>
          </a:p>
          <a:p>
            <a:pPr algn="ctr"/>
            <a:r>
              <a:rPr lang="en-US" dirty="0"/>
              <a:t>We are selling more than our competitors by a significant margin and gap, with more advertising and push for our products we can hike over their sales by a significant margin.</a:t>
            </a:r>
          </a:p>
        </p:txBody>
      </p:sp>
      <p:sp>
        <p:nvSpPr>
          <p:cNvPr id="12" name="Rectangle 11">
            <a:extLst>
              <a:ext uri="{FF2B5EF4-FFF2-40B4-BE49-F238E27FC236}">
                <a16:creationId xmlns:a16="http://schemas.microsoft.com/office/drawing/2014/main" id="{1D01D332-97D2-6CF1-B153-289B0EA6E5C1}"/>
              </a:ext>
            </a:extLst>
          </p:cNvPr>
          <p:cNvSpPr/>
          <p:nvPr/>
        </p:nvSpPr>
        <p:spPr>
          <a:xfrm>
            <a:off x="4810761" y="5136565"/>
            <a:ext cx="7224765" cy="148467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THREAT:</a:t>
            </a:r>
          </a:p>
          <a:p>
            <a:pPr algn="ctr"/>
            <a:r>
              <a:rPr lang="en-US" dirty="0"/>
              <a:t>Our “Premium” products are sorely lacking behind our competitors premium products, While we may be selling more at the moment if our competitors introduce more brands or products they can easily surpass our profit with the volume of products they sell.</a:t>
            </a:r>
          </a:p>
        </p:txBody>
      </p:sp>
    </p:spTree>
    <p:extLst>
      <p:ext uri="{BB962C8B-B14F-4D97-AF65-F5344CB8AC3E}">
        <p14:creationId xmlns:p14="http://schemas.microsoft.com/office/powerpoint/2010/main" val="330722729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VODKA</Template>
  <TotalTime>1</TotalTime>
  <Words>313</Words>
  <Application>Microsoft Office PowerPoint</Application>
  <PresentationFormat>Widescreen</PresentationFormat>
  <Paragraphs>31</Paragraphs>
  <Slides>8</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8</vt:i4>
      </vt:variant>
    </vt:vector>
  </HeadingPairs>
  <TitlesOfParts>
    <vt:vector size="15" baseType="lpstr">
      <vt:lpstr>Agency FB</vt:lpstr>
      <vt:lpstr>Aptos</vt:lpstr>
      <vt:lpstr>Aptos Display</vt:lpstr>
      <vt:lpstr>Arial</vt:lpstr>
      <vt:lpstr>Bahnschrift SemiLight</vt:lpstr>
      <vt:lpstr>Britannic Bold</vt:lpstr>
      <vt:lpstr>Office Theme</vt:lpstr>
      <vt:lpstr>VODKA</vt:lpstr>
      <vt:lpstr>SCENARIO.</vt:lpstr>
      <vt:lpstr>SUMMARY.</vt:lpstr>
      <vt:lpstr>STRENGTH 1: TOP 5 HIGHEST SALE COMPANIES.</vt:lpstr>
      <vt:lpstr>WEAKNESS 1: LACK OF INTEREST</vt:lpstr>
      <vt:lpstr>OPPORTUNITY 1: HIGHEST SALES OF VODKA VS TEQUILA</vt:lpstr>
      <vt:lpstr>THREAT 1: TEQUILA VS WHISKEY SALES PER 2K UNITS</vt:lpstr>
      <vt:lpstr>SUMMARY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paul lopez</dc:creator>
  <cp:lastModifiedBy>paul lopez</cp:lastModifiedBy>
  <cp:revision>1</cp:revision>
  <dcterms:created xsi:type="dcterms:W3CDTF">2026-05-01T16:20:15Z</dcterms:created>
  <dcterms:modified xsi:type="dcterms:W3CDTF">2026-05-01T17:11:27Z</dcterms:modified>
</cp:coreProperties>
</file>